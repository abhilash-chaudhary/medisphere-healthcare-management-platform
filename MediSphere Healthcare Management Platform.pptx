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8968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0E7C86">
              <a:alpha val="22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F2673D">
              <a:alpha val="2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4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MEDISPHERE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Hospital Management System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Patients, Doctors &amp; Administrators on one intelligent platform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452628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1639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914400" y="458114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Abhilash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8463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0" y="452628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1639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4480560" y="458114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Varshith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48463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63840" y="452628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1639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8046720" y="458114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Farheen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48463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530352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1639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8" name="Text 16"/>
          <p:cNvSpPr/>
          <p:nvPr/>
        </p:nvSpPr>
        <p:spPr>
          <a:xfrm>
            <a:off x="914400" y="535838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Kalpanadevi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56235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7680" y="530352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1639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1" name="Text 19"/>
          <p:cNvSpPr/>
          <p:nvPr/>
        </p:nvSpPr>
        <p:spPr>
          <a:xfrm>
            <a:off x="4480560" y="535838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Santhosh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80560" y="56235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MediSphere?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juggle patient records, doctor schedules, and administrative tasks across disconnected systems — slowing down care and increasing the risk of errors.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868680" y="2468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2673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1463040" y="248716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3255264"/>
            <a:ext cx="109728" cy="109728"/>
          </a:xfrm>
          <a:prstGeom prst="ellipse">
            <a:avLst/>
          </a:prstGeom>
          <a:solidFill>
            <a:srgbClr val="F2673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1143000" y="31272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Records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340156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health history spread across paper files and isolated systems.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4215384"/>
            <a:ext cx="109728" cy="109728"/>
          </a:xfrm>
          <a:prstGeom prst="ellipse">
            <a:avLst/>
          </a:prstGeom>
          <a:solidFill>
            <a:srgbClr val="F2673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1143000" y="40873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Insights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36168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 into vital signs or emerging health risks.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5175504"/>
            <a:ext cx="109728" cy="109728"/>
          </a:xfrm>
          <a:prstGeom prst="ellipse">
            <a:avLst/>
          </a:prstGeom>
          <a:solidFill>
            <a:srgbClr val="F2673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1143000" y="50474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Coordination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532180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Admins, doctors, and patients rely on manual, error-prone communication.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214884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8" name="Shape 16"/>
          <p:cNvSpPr/>
          <p:nvPr/>
        </p:nvSpPr>
        <p:spPr>
          <a:xfrm>
            <a:off x="6537960" y="2468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9" name="Text 17"/>
          <p:cNvSpPr/>
          <p:nvPr/>
        </p:nvSpPr>
        <p:spPr>
          <a:xfrm>
            <a:off x="7132320" y="248716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37960" y="3255264"/>
            <a:ext cx="109728" cy="10972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1" name="Text 19"/>
          <p:cNvSpPr/>
          <p:nvPr/>
        </p:nvSpPr>
        <p:spPr>
          <a:xfrm>
            <a:off x="6812280" y="31272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Platform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12280" y="340156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for Patient, Doctor, and Admin — data flows in real time.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37960" y="4215384"/>
            <a:ext cx="109728" cy="10972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4" name="Text 22"/>
          <p:cNvSpPr/>
          <p:nvPr/>
        </p:nvSpPr>
        <p:spPr>
          <a:xfrm>
            <a:off x="6812280" y="40873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Vital Tracking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12280" y="436168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of patient vitals for faster decisions.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37960" y="5175504"/>
            <a:ext cx="109728" cy="10972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7" name="Text 25"/>
          <p:cNvSpPr/>
          <p:nvPr/>
        </p:nvSpPr>
        <p:spPr>
          <a:xfrm>
            <a:off x="6812280" y="50474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12280" y="532180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ML model flags diabetic risk early, from patient data.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MediSphere Aims to Achieve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16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8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patient, doctor &amp; admin data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for hospital records and workflows.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16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4572000" y="17373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8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0" y="22860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real-time vital monitoring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8803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live vital data so doctors can respond faster.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16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8366760" y="17373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8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366760" y="228600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diabetic and cardio risk early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66760" y="28803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Python-based ML model to flag at-risk patients.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16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/>
          <p:nvPr/>
        </p:nvSpPr>
        <p:spPr>
          <a:xfrm>
            <a:off x="777240" y="38862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8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77240" y="44348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role-based access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7240" y="50292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patients, doctors, and admins the right tools for their role.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374904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16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1" name="Text 19"/>
          <p:cNvSpPr/>
          <p:nvPr/>
        </p:nvSpPr>
        <p:spPr>
          <a:xfrm>
            <a:off x="4572000" y="38862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8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572000" y="44348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administrative overhead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0" y="50292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scheduling, records, and reporting tasks.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38160" y="374904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16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5" name="Text 23"/>
          <p:cNvSpPr/>
          <p:nvPr/>
        </p:nvSpPr>
        <p:spPr>
          <a:xfrm>
            <a:off x="8366760" y="38862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8E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366760" y="44348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scalable foundation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366760" y="50292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the system to support future modules and integrations.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1639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502920" cy="9144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 for Patient, Doctor &amp; Admin dashboards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1639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Shape 8"/>
          <p:cNvSpPr/>
          <p:nvPr/>
        </p:nvSpPr>
        <p:spPr>
          <a:xfrm>
            <a:off x="4572000" y="1828800"/>
            <a:ext cx="502920" cy="91440"/>
          </a:xfrm>
          <a:prstGeom prst="roundRect">
            <a:avLst>
              <a:gd name="adj" fmla="val 50000"/>
            </a:avLst>
          </a:prstGeom>
          <a:solidFill>
            <a:srgbClr val="F2673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4572000" y="2011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6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0" y="22860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Boot/ Java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7432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handling authentication, records &amp; role-based access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1639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5" name="Shape 13"/>
          <p:cNvSpPr/>
          <p:nvPr/>
        </p:nvSpPr>
        <p:spPr>
          <a:xfrm>
            <a:off x="8366760" y="1828800"/>
            <a:ext cx="502920" cy="91440"/>
          </a:xfrm>
          <a:prstGeom prst="roundRect">
            <a:avLst>
              <a:gd name="adj" fmla="val 50000"/>
            </a:avLst>
          </a:prstGeom>
          <a:solidFill>
            <a:srgbClr val="F4A93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8366760" y="2011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4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366760" y="22860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 db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66760" y="27432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storage for patient, doctor &amp; admin records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1639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0" name="Shape 18"/>
          <p:cNvSpPr/>
          <p:nvPr/>
        </p:nvSpPr>
        <p:spPr>
          <a:xfrm>
            <a:off x="777240" y="4114800"/>
            <a:ext cx="502920" cy="9144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1" name="Text 19"/>
          <p:cNvSpPr/>
          <p:nvPr/>
        </p:nvSpPr>
        <p:spPr>
          <a:xfrm>
            <a:off x="777240" y="4297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PREDICTION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77240" y="45720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(Scikit-learn)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50292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and cardio prediction model trained on patient health data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388620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1639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5" name="Shape 23"/>
          <p:cNvSpPr/>
          <p:nvPr/>
        </p:nvSpPr>
        <p:spPr>
          <a:xfrm>
            <a:off x="4572000" y="4114800"/>
            <a:ext cx="502920" cy="91440"/>
          </a:xfrm>
          <a:prstGeom prst="roundRect">
            <a:avLst>
              <a:gd name="adj" fmla="val 50000"/>
            </a:avLst>
          </a:prstGeom>
          <a:solidFill>
            <a:srgbClr val="F2673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6" name="Text 24"/>
          <p:cNvSpPr/>
          <p:nvPr/>
        </p:nvSpPr>
        <p:spPr>
          <a:xfrm>
            <a:off x="4572000" y="4297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6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 PIPELINE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0" y="45720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0" y="50292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and streams live vital data to the dashboard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38160" y="388620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1639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0" name="Shape 28"/>
          <p:cNvSpPr/>
          <p:nvPr/>
        </p:nvSpPr>
        <p:spPr>
          <a:xfrm>
            <a:off x="8366760" y="4114800"/>
            <a:ext cx="502920" cy="91440"/>
          </a:xfrm>
          <a:prstGeom prst="roundRect">
            <a:avLst>
              <a:gd name="adj" fmla="val 50000"/>
            </a:avLst>
          </a:prstGeom>
          <a:solidFill>
            <a:srgbClr val="F4A93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1" name="Text 29"/>
          <p:cNvSpPr/>
          <p:nvPr/>
        </p:nvSpPr>
        <p:spPr>
          <a:xfrm>
            <a:off x="8366760" y="4297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4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366760" y="45720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66760" y="502920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health trends and prediction results as charts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ROLES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Roles, One Platform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MediSphere is designed around three distinct users, each with a tailored experience.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20440" cy="40233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16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767328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1051560" y="36118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personal health record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4361688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1051560" y="42062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vital data tracking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4956048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1051560" y="48006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and cardiovascular  risk prediction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43400" y="2103120"/>
            <a:ext cx="3520440" cy="40233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16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5" name="Shape 13"/>
          <p:cNvSpPr/>
          <p:nvPr/>
        </p:nvSpPr>
        <p:spPr>
          <a:xfrm>
            <a:off x="4617720" y="2377440"/>
            <a:ext cx="640080" cy="640080"/>
          </a:xfrm>
          <a:prstGeom prst="ellipse">
            <a:avLst/>
          </a:prstGeom>
          <a:solidFill>
            <a:srgbClr val="F2673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4572000" y="31546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617720" y="3767328"/>
            <a:ext cx="91440" cy="91440"/>
          </a:xfrm>
          <a:prstGeom prst="ellipse">
            <a:avLst/>
          </a:prstGeom>
          <a:solidFill>
            <a:srgbClr val="F2673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8" name="Text 16"/>
          <p:cNvSpPr/>
          <p:nvPr/>
        </p:nvSpPr>
        <p:spPr>
          <a:xfrm>
            <a:off x="4846320" y="36118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patient health history and can view patient 360 data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17720" y="4361688"/>
            <a:ext cx="91440" cy="91440"/>
          </a:xfrm>
          <a:prstGeom prst="ellipse">
            <a:avLst/>
          </a:prstGeom>
          <a:solidFill>
            <a:srgbClr val="F2673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4846320" y="42062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vitals for assigned patients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17720" y="4956048"/>
            <a:ext cx="91440" cy="91440"/>
          </a:xfrm>
          <a:prstGeom prst="ellipse">
            <a:avLst/>
          </a:prstGeom>
          <a:solidFill>
            <a:srgbClr val="F2673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2" name="Text 20"/>
          <p:cNvSpPr/>
          <p:nvPr/>
        </p:nvSpPr>
        <p:spPr>
          <a:xfrm>
            <a:off x="4846320" y="48006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AI prediction results and alerts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138160" y="2103120"/>
            <a:ext cx="3520440" cy="40233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16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4" name="Shape 22"/>
          <p:cNvSpPr/>
          <p:nvPr/>
        </p:nvSpPr>
        <p:spPr>
          <a:xfrm>
            <a:off x="8412480" y="2377440"/>
            <a:ext cx="640080" cy="640080"/>
          </a:xfrm>
          <a:prstGeom prst="ellipse">
            <a:avLst/>
          </a:prstGeom>
          <a:solidFill>
            <a:srgbClr val="F4A93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5" name="Text 23"/>
          <p:cNvSpPr/>
          <p:nvPr/>
        </p:nvSpPr>
        <p:spPr>
          <a:xfrm>
            <a:off x="8366760" y="31546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412480" y="3767328"/>
            <a:ext cx="91440" cy="91440"/>
          </a:xfrm>
          <a:prstGeom prst="ellipse">
            <a:avLst/>
          </a:prstGeom>
          <a:solidFill>
            <a:srgbClr val="F4A93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7" name="Text 25"/>
          <p:cNvSpPr/>
          <p:nvPr/>
        </p:nvSpPr>
        <p:spPr>
          <a:xfrm>
            <a:off x="8641080" y="36118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hospital-wide records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412480" y="4361688"/>
            <a:ext cx="91440" cy="91440"/>
          </a:xfrm>
          <a:prstGeom prst="ellipse">
            <a:avLst/>
          </a:prstGeom>
          <a:solidFill>
            <a:srgbClr val="F4A93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9" name="Text 27"/>
          <p:cNvSpPr/>
          <p:nvPr/>
        </p:nvSpPr>
        <p:spPr>
          <a:xfrm>
            <a:off x="8641080" y="42062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 doctor &amp; patient accounts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412480" y="4956048"/>
            <a:ext cx="91440" cy="91440"/>
          </a:xfrm>
          <a:prstGeom prst="ellipse">
            <a:avLst/>
          </a:prstGeom>
          <a:solidFill>
            <a:srgbClr val="F4A93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1" name="Text 29"/>
          <p:cNvSpPr/>
          <p:nvPr/>
        </p:nvSpPr>
        <p:spPr>
          <a:xfrm>
            <a:off x="8641080" y="48006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system operations and audit logs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DEEP DIVE ·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Module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get a complete view of their own health — full medical history, continuously updated vitals, and an ML-driven diabetic risk score.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523744"/>
            <a:ext cx="109728" cy="10972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822960" y="23591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health data: history, personal digital health twin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118104"/>
            <a:ext cx="109728" cy="10972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822960" y="295351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vital data: heart rate, BP, glucose, SpO2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712464"/>
            <a:ext cx="109728" cy="10972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822960" y="354787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prediction score with risk category  and real time health notification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7373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09360" y="41605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480560"/>
            <a:ext cx="52120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14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6" name="Text 12"/>
          <p:cNvSpPr/>
          <p:nvPr/>
        </p:nvSpPr>
        <p:spPr>
          <a:xfrm>
            <a:off x="822960" y="4617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Snapshot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22960" y="49834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560320" y="4983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/ Random Forest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822960" y="53675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2560320" y="53675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Glucose, BMI, age, BP, family history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822960" y="575157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2560320" y="575157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category: Low / Moderate / High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E68757E-B60E-1143-2222-DF229E86A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554479"/>
            <a:ext cx="6705600" cy="45899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DEEP DIVE ·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Module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get a consolidated clinical view across their assigned patients, with live vitals and prediction results to prioritize care.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523744"/>
            <a:ext cx="109728" cy="109728"/>
          </a:xfrm>
          <a:prstGeom prst="ellipse">
            <a:avLst/>
          </a:prstGeom>
          <a:solidFill>
            <a:srgbClr val="F2673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822960" y="23591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assigned patients' full health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118104"/>
            <a:ext cx="109728" cy="109728"/>
          </a:xfrm>
          <a:prstGeom prst="ellipse">
            <a:avLst/>
          </a:prstGeom>
          <a:solidFill>
            <a:srgbClr val="F2673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822960" y="295351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live vitals across the patient panel and Real time critical alerts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712464"/>
            <a:ext cx="109728" cy="109728"/>
          </a:xfrm>
          <a:prstGeom prst="ellipse">
            <a:avLst/>
          </a:prstGeom>
          <a:solidFill>
            <a:srgbClr val="F2673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822960" y="354787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diabetic and cardiovascular risk flags to prioritize follow-ups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7373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graphicFrame>
        <p:nvGraphicFramePr>
          <p:cNvPr id="12" name="Chart 0"/>
          <p:cNvGraphicFramePr/>
          <p:nvPr>
            <p:extLst>
              <p:ext uri="{D42A27DB-BD31-4B8C-83A1-F6EECF244321}">
                <p14:modId xmlns:p14="http://schemas.microsoft.com/office/powerpoint/2010/main" val="2450462463"/>
              </p:ext>
            </p:extLst>
          </p:nvPr>
        </p:nvGraphicFramePr>
        <p:xfrm>
          <a:off x="6309360" y="447869"/>
          <a:ext cx="5882640" cy="5897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10"/>
          <p:cNvSpPr/>
          <p:nvPr/>
        </p:nvSpPr>
        <p:spPr>
          <a:xfrm>
            <a:off x="6309360" y="43891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480560"/>
            <a:ext cx="52120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14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6" name="Text 12"/>
          <p:cNvSpPr/>
          <p:nvPr/>
        </p:nvSpPr>
        <p:spPr>
          <a:xfrm>
            <a:off x="822960" y="4617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View Highlights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22960" y="49834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size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560320" y="4983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patients only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822960" y="53675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2560320" y="53675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for abnormal vitals / high risk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822960" y="575157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2560320" y="575157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notes, update prescriptions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86B5441-C8C1-0D9B-8FFB-6FE4EC046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389888"/>
            <a:ext cx="63093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D064B2-D7A9-6EB1-498E-8C927AE20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2" y="242596"/>
            <a:ext cx="12069569" cy="63448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A646DD-727A-2F06-EE00-1F9847A14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3804" y="1203648"/>
            <a:ext cx="6764694" cy="513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60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 &amp; Integration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increments to extend MediSphere beyond its current scope.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639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411480" cy="41148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Integration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vitals directly from smartwatches &amp; IoT health devices.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639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Shape 9"/>
          <p:cNvSpPr/>
          <p:nvPr/>
        </p:nvSpPr>
        <p:spPr>
          <a:xfrm>
            <a:off x="4572000" y="2194560"/>
            <a:ext cx="411480" cy="411480"/>
          </a:xfrm>
          <a:prstGeom prst="ellipse">
            <a:avLst/>
          </a:prstGeom>
          <a:solidFill>
            <a:srgbClr val="F2673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457200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Prediction Models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0" y="31089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diabetes to cardiac risk and other chronic conditions.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38160" y="196596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639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Shape 14"/>
          <p:cNvSpPr/>
          <p:nvPr/>
        </p:nvSpPr>
        <p:spPr>
          <a:xfrm>
            <a:off x="8366760" y="2194560"/>
            <a:ext cx="411480" cy="411480"/>
          </a:xfrm>
          <a:prstGeom prst="ellipse">
            <a:avLst/>
          </a:prstGeom>
          <a:solidFill>
            <a:srgbClr val="F4A93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/>
          <p:nvPr/>
        </p:nvSpPr>
        <p:spPr>
          <a:xfrm>
            <a:off x="836676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6676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66760" y="31089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video consultations between doctors and patients.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639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1" name="Shape 19"/>
          <p:cNvSpPr/>
          <p:nvPr/>
        </p:nvSpPr>
        <p:spPr>
          <a:xfrm>
            <a:off x="777240" y="4389120"/>
            <a:ext cx="411480" cy="41148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2" name="Text 20"/>
          <p:cNvSpPr/>
          <p:nvPr/>
        </p:nvSpPr>
        <p:spPr>
          <a:xfrm>
            <a:off x="777240" y="4389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937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IN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mergency SOS &amp; Ambulance integration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77240" y="53035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emergency alerts and ambulance dispatch for critical conditions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43400" y="416052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639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6" name="Shape 24"/>
          <p:cNvSpPr/>
          <p:nvPr/>
        </p:nvSpPr>
        <p:spPr>
          <a:xfrm>
            <a:off x="4572000" y="4389120"/>
            <a:ext cx="411480" cy="411480"/>
          </a:xfrm>
          <a:prstGeom prst="ellipse">
            <a:avLst/>
          </a:prstGeom>
          <a:solidFill>
            <a:srgbClr val="F2673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7" name="Text 25"/>
          <p:cNvSpPr/>
          <p:nvPr/>
        </p:nvSpPr>
        <p:spPr>
          <a:xfrm>
            <a:off x="4572000" y="4389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0" y="4937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72000" y="53035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Android/iOS apps for patients and doctors on the go.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38160" y="416052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6394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1" name="Shape 29"/>
          <p:cNvSpPr/>
          <p:nvPr/>
        </p:nvSpPr>
        <p:spPr>
          <a:xfrm>
            <a:off x="8366760" y="4389120"/>
            <a:ext cx="411480" cy="411480"/>
          </a:xfrm>
          <a:prstGeom prst="ellipse">
            <a:avLst/>
          </a:prstGeom>
          <a:solidFill>
            <a:srgbClr val="F4A93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2" name="Text 30"/>
          <p:cNvSpPr/>
          <p:nvPr/>
        </p:nvSpPr>
        <p:spPr>
          <a:xfrm>
            <a:off x="8366760" y="4389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66760" y="4937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Health Assistant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366760" y="53035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for patient queries and appointment scheduling.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695</Words>
  <Application>Microsoft Office PowerPoint</Application>
  <PresentationFormat>Widescreen</PresentationFormat>
  <Paragraphs>148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FARHEEN BANU S D</cp:lastModifiedBy>
  <cp:revision>5</cp:revision>
  <dcterms:created xsi:type="dcterms:W3CDTF">2026-07-27T05:49:45Z</dcterms:created>
  <dcterms:modified xsi:type="dcterms:W3CDTF">2026-07-30T14:08:57Z</dcterms:modified>
</cp:coreProperties>
</file>